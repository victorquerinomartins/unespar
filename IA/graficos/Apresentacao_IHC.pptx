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Abertura: Apresentem a equipe. Mencione que seguirão o Cap 12 da Barbosa.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Destaquem que é um método de INSPEÇÃO. Não tem usuário real aqui. A teoria é que as pessoas aprendem explorando, não lendo manual.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Explique que nós (avaliadores) vamos 'fingir' ser o usuário. Precisamos ter a tarefa e o caminho feliz definidos antes de começar.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É O SLIDE MAIS IMPORTANTE. Leiam as 4 perguntas com calma. Elas são a base da avaliação.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foco é aprendizado. Serve para ver se o sistema conversa com o modelo mental do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Leiam o cenário. Destaquem que a persona é idosa, isso muda como respondemos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Mostrem como o método encontrou o erro. O Sr. João falhou na visualização e na associação (semântica).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Avaliação crítica. É barato, mas cansativo. Precisa saber se colocar no lugar do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Fechamento. Agradecimentos e abertura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E3A8A"/>
                </a:solidFill>
              </a:defRPr>
            </a:pPr>
            <a:r>
              <a:t>Percurso Cognitivo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Seminário de Métodos de Avaliação de IHC</a:t>
            </a:r>
          </a:p>
          <a:p>
            <a:r>
              <a:t>Baseado em: Barbosa, S. D. J.; Silva, B. S. (Capítulo 12)</a:t>
            </a:r>
          </a:p>
          <a:p/>
          <a:p>
            <a:r>
              <a:t>Equipe: Carlos Arthur, Gabriel Momesso, Thiago Martins, Victor Martins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8A"/>
                </a:solidFill>
              </a:defRPr>
            </a:pPr>
            <a:r>
              <a:t>Contextualização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que é?</a:t>
            </a:r>
          </a:p>
          <a:p>
            <a:pPr lvl="1"/>
            <a:r>
              <a:t>Método de Inspeção de Usabilidade (sem usuários finais).</a:t>
            </a:r>
          </a:p>
          <a:p>
            <a:pPr lvl="1"/>
            <a:r>
              <a:t>Origem: Proposto por Polson et al. (Início dos anos 90).</a:t>
            </a:r>
          </a:p>
          <a:p>
            <a:pPr lvl="1"/>
            <a:r>
              <a:t>Foco: Avaliar sistemas 'walk up and use'.</a:t>
            </a:r>
          </a:p>
          <a:p>
            <a:br/>
            <a:pPr>
              <a:defRPr b="1"/>
            </a:pPr>
            <a:r>
              <a:t>Teoria do Aprendizado Exploratório:</a:t>
            </a:r>
          </a:p>
          <a:p>
            <a:pPr lvl="1"/>
            <a:r>
              <a:t>Usuários preferem aprender explorando a interface e resolvendo problemas, em vez de ler manuais.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8A"/>
                </a:solidFill>
              </a:defRPr>
            </a:pPr>
            <a:r>
              <a:t>Definição e Preparação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avaliador simula o raciocínio do usuário ao realizar uma tarefa.</a:t>
            </a:r>
          </a:p>
          <a:p>
            <a:br/>
            <a:pPr>
              <a:defRPr b="1"/>
            </a:pPr>
            <a:r>
              <a:t>Entradas Necessárias (Inputs):</a:t>
            </a:r>
          </a:p>
          <a:p>
            <a:pPr lvl="1">
              <a:defRPr b="1"/>
            </a:pPr>
            <a:r>
              <a:t>1. Representação da Interface</a:t>
            </a:r>
          </a:p>
          <a:p>
            <a:pPr lvl="2"/>
            <a:r>
              <a:t>Sistema pronto, protótipo ou mockups.</a:t>
            </a:r>
          </a:p>
          <a:p>
            <a:pPr lvl="1">
              <a:defRPr b="1"/>
            </a:pPr>
            <a:r>
              <a:t>2. Descrição da Tarefa</a:t>
            </a:r>
          </a:p>
          <a:p>
            <a:pPr lvl="2"/>
            <a:r>
              <a:t>Objetivo claro do usuário (Ex: 'Comprar um livro').</a:t>
            </a:r>
          </a:p>
          <a:p>
            <a:pPr lvl="1">
              <a:defRPr b="1"/>
            </a:pPr>
            <a:r>
              <a:t>3. Sequência de Ações</a:t>
            </a:r>
          </a:p>
          <a:p>
            <a:pPr lvl="2"/>
            <a:r>
              <a:t>Lista granular de passos do 'Caminho Feliz'.</a:t>
            </a:r>
          </a:p>
          <a:p>
            <a:pPr lvl="1">
              <a:defRPr b="1"/>
            </a:pPr>
            <a:r>
              <a:t>4. Perfil do Usuário (Persona)</a:t>
            </a:r>
          </a:p>
          <a:p>
            <a:pPr lvl="2"/>
            <a:r>
              <a:t>Quem é? Qual seu conhecimento prévio?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8A"/>
                </a:solidFill>
              </a:defRPr>
            </a:pPr>
            <a:r>
              <a:t>As 4 Perguntas de Wharton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 cada ação da tarefa, faça estas 4 perguntas:</a:t>
            </a:r>
          </a:p>
          <a:p>
            <a:br/>
            <a:pPr>
              <a:defRPr b="1">
                <a:solidFill>
                  <a:srgbClr val="2563EB"/>
                </a:solidFill>
              </a:defRPr>
            </a:pPr>
            <a:r>
              <a:t>1. Intenção do Usuário</a:t>
            </a:r>
          </a:p>
          <a:p>
            <a:pPr lvl="1"/>
            <a:r>
              <a:t>O usuário tentará atingir o efeito correto? (Ele sabe que precisa fazer isso?)</a:t>
            </a:r>
          </a:p>
          <a:p>
            <a:br/>
            <a:pPr>
              <a:defRPr b="1">
                <a:solidFill>
                  <a:srgbClr val="2563EB"/>
                </a:solidFill>
              </a:defRPr>
            </a:pPr>
            <a:r>
              <a:t>2. Visibilidade do Controle</a:t>
            </a:r>
          </a:p>
          <a:p>
            <a:pPr lvl="1"/>
            <a:r>
              <a:t>O usuário notará que a ação está disponível? (O botão é visível?)</a:t>
            </a:r>
          </a:p>
          <a:p>
            <a:br/>
            <a:pPr>
              <a:defRPr b="1">
                <a:solidFill>
                  <a:srgbClr val="2563EB"/>
                </a:solidFill>
              </a:defRPr>
            </a:pPr>
            <a:r>
              <a:t>3. Associação (Significado)</a:t>
            </a:r>
          </a:p>
          <a:p>
            <a:pPr lvl="1"/>
            <a:r>
              <a:t>O usuário associará a ação com o efeito? (O ícone/texto faz sentido?)</a:t>
            </a:r>
          </a:p>
          <a:p>
            <a:br/>
            <a:pPr>
              <a:defRPr b="1">
                <a:solidFill>
                  <a:srgbClr val="2563EB"/>
                </a:solidFill>
              </a:defRPr>
            </a:pPr>
            <a:r>
              <a:t>4. Feedback do Sistema</a:t>
            </a:r>
          </a:p>
          <a:p>
            <a:pPr lvl="1"/>
            <a:r>
              <a:t>O usuário perceberá o progresso? (O sistema confirma a ação?)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8A"/>
                </a:solidFill>
              </a:defRPr>
            </a:pPr>
            <a:r>
              <a:t>Objetivos e Aplicação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Principais Objetivos:</a:t>
            </a:r>
          </a:p>
          <a:p>
            <a:pPr lvl="1"/>
            <a:r>
              <a:t>Simular a resolução de problemas do novato.</a:t>
            </a:r>
          </a:p>
          <a:p>
            <a:pPr lvl="1"/>
            <a:r>
              <a:t>Identificar conflitos de modelo mental.</a:t>
            </a:r>
          </a:p>
          <a:p>
            <a:pPr lvl="1"/>
            <a:r>
              <a:t>Detectar falhas em: Terminologias, Controles escondidos, Falta de feedback.</a:t>
            </a:r>
          </a:p>
          <a:p>
            <a:br/>
            <a:pPr>
              <a:defRPr b="1"/>
            </a:pPr>
            <a:r>
              <a:t>Quando utilizar?</a:t>
            </a:r>
          </a:p>
          <a:p>
            <a:pPr lvl="1"/>
            <a:r>
              <a:t>Fase Inicial (Design): Validação de mockups antes da programação.</a:t>
            </a:r>
          </a:p>
          <a:p>
            <a:pPr lvl="1"/>
            <a:r>
              <a:t>Fase Final: Refinamento de interface em sistema funcional.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8A"/>
                </a:solidFill>
              </a:defRPr>
            </a:pPr>
            <a:r>
              <a:t>Exemplo Prático: Cenário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Dados do Cenário:</a:t>
            </a:r>
          </a:p>
          <a:p>
            <a:pPr lvl="1"/>
            <a:r>
              <a:t>Sistema: App de Delivery (Mobile).</a:t>
            </a:r>
          </a:p>
          <a:p>
            <a:pPr lvl="1"/>
            <a:r>
              <a:t>Persona: 'Sr. João', 65 anos. Usa apenas WhatsApp. Baixa familiaridade.</a:t>
            </a:r>
          </a:p>
          <a:p>
            <a:pPr lvl="1"/>
            <a:r>
              <a:t>Tarefa Global: Inserir cupom de desconto.</a:t>
            </a:r>
          </a:p>
          <a:p>
            <a:pPr lvl="1"/>
            <a:r>
              <a:t>Ação Analisada: Clicar no ícone de tíquete na tela de pagamento.</a:t>
            </a:r>
          </a:p>
          <a:p>
            <a:br/>
            <a:pPr>
              <a:defRPr b="1"/>
            </a:pPr>
            <a:r>
              <a:t>Problema Visual:</a:t>
            </a:r>
          </a:p>
          <a:p>
            <a:pPr lvl="1"/>
            <a:r>
              <a:t>O ícone de cupom (🎫) é pequeno, sem texto e está longe do botão de pagar.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8A"/>
                </a:solidFill>
              </a:defRPr>
            </a:pPr>
            <a:r>
              <a:t>Exemplo Prático: Análise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Ação: 'Clicar no ícone (🎫)'</a:t>
            </a:r>
          </a:p>
          <a:p>
            <a:pPr lvl="1">
              <a:defRPr>
                <a:solidFill>
                  <a:srgbClr val="16A34A"/>
                </a:solidFill>
              </a:defRPr>
            </a:pPr>
            <a:r>
              <a:t>P1. Intenção? -&gt; SIM. Sr. João quer o desconto.</a:t>
            </a:r>
          </a:p>
          <a:p>
            <a:pPr lvl="1">
              <a:defRPr>
                <a:solidFill>
                  <a:srgbClr val="DC2626"/>
                </a:solidFill>
              </a:defRPr>
            </a:pPr>
            <a:r>
              <a:t>P2. Visibilidade? -&gt; NÃO. Ícone muito pequeno e baixo contraste.</a:t>
            </a:r>
          </a:p>
          <a:p>
            <a:pPr lvl="1">
              <a:defRPr>
                <a:solidFill>
                  <a:srgbClr val="DC2626"/>
                </a:solidFill>
              </a:defRPr>
            </a:pPr>
            <a:r>
              <a:t>P3. Associação? -&gt; NÃO. Sr. João procura a palavra 'Cupom', não entende o desenho.</a:t>
            </a:r>
          </a:p>
          <a:p>
            <a:pPr lvl="1"/>
            <a:r>
              <a:t>P4. Feedback? -&gt; N/A. O usuário falhou antes de clicar.</a:t>
            </a:r>
          </a:p>
          <a:p>
            <a:br/>
            <a:pPr>
              <a:defRPr b="1"/>
            </a:pPr>
            <a:r>
              <a:t>Solução Sugerida: Substituir ícone por texto 'Adicionar Cupom'.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8A"/>
                </a:solidFill>
              </a:defRPr>
            </a:pPr>
            <a:r>
              <a:t>Avaliação da Equipe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Análise Crítica do Método</a:t>
            </a:r>
          </a:p>
          <a:p>
            <a:pPr>
              <a:defRPr b="1">
                <a:solidFill>
                  <a:srgbClr val="16A34A"/>
                </a:solidFill>
              </a:defRPr>
            </a:pPr>
            <a:r>
              <a:t>Pontos Fortes:</a:t>
            </a:r>
          </a:p>
          <a:p>
            <a:pPr lvl="1"/>
            <a:r>
              <a:t>Custo-Benefício: Rápido e barato (sem recrutamento).</a:t>
            </a:r>
          </a:p>
          <a:p>
            <a:pPr lvl="1"/>
            <a:r>
              <a:t>Foco no Aprendizado: Especializado em primeiro uso.</a:t>
            </a:r>
          </a:p>
          <a:p>
            <a:br/>
            <a:pPr>
              <a:defRPr b="1">
                <a:solidFill>
                  <a:srgbClr val="EA580C"/>
                </a:solidFill>
              </a:defRPr>
            </a:pPr>
            <a:r>
              <a:t>Limitações:</a:t>
            </a:r>
          </a:p>
          <a:p>
            <a:pPr lvl="1"/>
            <a:r>
              <a:t>Falsos Resultados: Depende da empatia do avaliador.</a:t>
            </a:r>
          </a:p>
          <a:p>
            <a:pPr lvl="1"/>
            <a:r>
              <a:t>Escopo Limitado: Só avalia o 'caminho feliz'.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E3A8A"/>
                </a:solidFill>
              </a:defRPr>
            </a:pPr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i="1" sz="2400"/>
            </a:pPr>
            <a:r>
              <a:t>'O Percurso Cognitivo não diz apenas ONDE está o problema, mas o PORQUÊ o usuário falha.'</a:t>
            </a:r>
          </a:p>
          <a:p>
            <a:br/>
            <a:pPr>
              <a:defRPr b="1"/>
            </a:pPr>
            <a:r>
              <a:t>Recomendação:</a:t>
            </a:r>
          </a:p>
          <a:p>
            <a:pPr lvl="1"/>
            <a:r>
              <a:t>Use em protótipos para validar terminologia e visibilidade.</a:t>
            </a:r>
          </a:p>
          <a:p>
            <a:br/>
            <a:pPr>
              <a:defRPr b="1"/>
            </a:pPr>
            <a:r>
              <a:t>Referência Bibliográfica:</a:t>
            </a:r>
          </a:p>
          <a:p>
            <a:pPr lvl="1">
              <a:defRPr i="1"/>
            </a:pPr>
            <a:r>
              <a:t>BARBOSA, S. D. J.; SILVA, B. S. Interação Humano-Computador. Capítulo 12. Elsevier, 2010.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